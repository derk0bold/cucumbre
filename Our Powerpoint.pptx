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81" r:id="rId2"/>
    <p:sldId id="285" r:id="rId3"/>
    <p:sldId id="287" r:id="rId4"/>
    <p:sldId id="289" r:id="rId5"/>
    <p:sldId id="278" r:id="rId6"/>
    <p:sldId id="273" r:id="rId7"/>
    <p:sldId id="279" r:id="rId8"/>
    <p:sldId id="280" r:id="rId9"/>
    <p:sldId id="27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8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11881A-50A0-4702-E721-C224EE58C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9EEE8D9-E26F-4C3F-E886-6888477FF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3D4953-CD53-1030-3D5F-AC0CE1A7B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6F2DF-9186-4B09-A425-EEEB38B7487C}" type="datetimeFigureOut">
              <a:rPr lang="de-CH" smtClean="0"/>
              <a:t>27.03.2026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300808-2EDB-94E9-E146-9AE41188C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8F6825-A9D0-2C8D-95D7-5C4843E97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F5954-B70E-4A7E-9652-C79414A9AF9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70280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771D1E-7801-93E8-638C-6C7D9CA56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54BF77-B5EF-901D-4CF6-5E29BBD10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6B3F0D-A771-9A63-AB56-534AA8AD5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6F2DF-9186-4B09-A425-EEEB38B7487C}" type="datetimeFigureOut">
              <a:rPr lang="de-CH" smtClean="0"/>
              <a:t>27.03.2026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3E4C51-2330-D308-743A-D5F937B3D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93C6BF-AED8-478B-7164-90907819F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F5954-B70E-4A7E-9652-C79414A9AF9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3646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2CB78-B8DA-B72A-AF0E-A9E72DFD5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3CAE1B1-9D50-B3AF-9923-B9A4A6A8B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36D3A3-687B-034B-7BA2-C07C53AA5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6F2DF-9186-4B09-A425-EEEB38B7487C}" type="datetimeFigureOut">
              <a:rPr lang="de-CH" smtClean="0"/>
              <a:t>27.03.2026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888281-41CC-C634-C962-74FD1B0D0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D0B206-C59A-17D7-507D-9D7788F0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F5954-B70E-4A7E-9652-C79414A9AF9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6466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51F646-8541-7702-E30F-BC8F8F30F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49660F-9A75-C14D-F490-46900A2BCB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A377FE4-9BD5-C343-9DAE-73C663582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F2A5986-0DE4-5DE2-962B-A999842E4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6F2DF-9186-4B09-A425-EEEB38B7487C}" type="datetimeFigureOut">
              <a:rPr lang="de-CH" smtClean="0"/>
              <a:t>27.03.2026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7C94DDB-2BE3-04D2-B231-FA063A137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010503E-BD54-7518-1262-1B48C62A1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F5954-B70E-4A7E-9652-C79414A9AF9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58615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C8EFCC-2C0C-4699-42D1-14452B0FE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AF21A8-6353-15FE-178F-C72C9B26E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B94F63A-2DAE-C5DB-C3C2-22D678457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4504E88-4547-9446-763D-56F4813372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BEAA6A2-24F4-6501-545A-581378268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B5B3CCB-5DB9-6A9F-A790-5748D4D59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6F2DF-9186-4B09-A425-EEEB38B7487C}" type="datetimeFigureOut">
              <a:rPr lang="de-CH" smtClean="0"/>
              <a:t>27.03.2026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630FA77-CE2D-B411-E3EF-6FB1BDC8D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8BB59E1-1FDF-5FFF-FCDE-054AB39FF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F5954-B70E-4A7E-9652-C79414A9AF9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7907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E6D7CC-5AFB-713D-DD56-37B088567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FCD5A02-3881-AE7C-FAC5-008749846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6F2DF-9186-4B09-A425-EEEB38B7487C}" type="datetimeFigureOut">
              <a:rPr lang="de-CH" smtClean="0"/>
              <a:t>27.03.2026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A172F16-1118-8A52-B28B-7452869B8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606536-7EAC-E5F5-981E-64BFED726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F5954-B70E-4A7E-9652-C79414A9AF9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67879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0013551-4EE9-71D3-AB62-1B4C54B9F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6F2DF-9186-4B09-A425-EEEB38B7487C}" type="datetimeFigureOut">
              <a:rPr lang="de-CH" smtClean="0"/>
              <a:t>27.03.2026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8272B67-2445-929A-220E-F90A6FD3A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9D1D129-E8C4-485D-2F72-0AC33B829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F5954-B70E-4A7E-9652-C79414A9AF9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87022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123EF5-F634-33D2-8F12-D4C18AED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881B38-28C3-D0E0-0001-08B4085E2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BBFEAA7-A572-C09E-B81F-05532CBAA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7C87CD0-E02D-DFB4-98C3-084EE68A7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6F2DF-9186-4B09-A425-EEEB38B7487C}" type="datetimeFigureOut">
              <a:rPr lang="de-CH" smtClean="0"/>
              <a:t>27.03.2026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31A2E00-A048-5B2F-1EF0-166237AB5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5AB37F6-4EF9-CFB1-AC2C-597A78E39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F5954-B70E-4A7E-9652-C79414A9AF9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33196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8C971B-ABAE-8F4E-2B49-58EBE16EB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1A8D056-62D7-31A7-E467-00C5479165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4BE154F-B9CA-00DF-CCEC-4209E549C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E2D118-BECD-D95A-825E-BB3D82AF3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6F2DF-9186-4B09-A425-EEEB38B7487C}" type="datetimeFigureOut">
              <a:rPr lang="de-CH" smtClean="0"/>
              <a:t>27.03.2026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4563F7-AB55-73D2-C0E4-BAD17E143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5FD91A3-09B5-490C-F53E-0CDE404F3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F5954-B70E-4A7E-9652-C79414A9AF9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66053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837BB5-D18D-43AB-F2A9-78DDD2A3F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20A68FF-3AEB-87D6-5631-C897FC6017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CA0DCC-29F3-D1A6-AB1C-247C23E37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6F2DF-9186-4B09-A425-EEEB38B7487C}" type="datetimeFigureOut">
              <a:rPr lang="de-CH" smtClean="0"/>
              <a:t>27.03.2026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D46862-4739-3C1E-56AF-FF92761C3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03C31E-0065-5791-3245-42116D70F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F5954-B70E-4A7E-9652-C79414A9AF9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78765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872B7D4-8FF5-731A-9ACD-EA5324DA25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7DA5BC2-0360-18E0-1381-A210ED6B9B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729E60-B5E9-E751-B1B9-297411B8E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6F2DF-9186-4B09-A425-EEEB38B7487C}" type="datetimeFigureOut">
              <a:rPr lang="de-CH" smtClean="0"/>
              <a:t>27.03.2026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7A08C02-D004-DF9E-9509-474EDFE31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709C61B-8DE4-C5F7-47A5-91D55E9F3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F5954-B70E-4A7E-9652-C79414A9AF9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93612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2D2F3BB-CDA5-F274-E2AB-CE465C70F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3E4561-46EA-9317-79AE-0F8BC19FD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B618DD-B5C8-4D0A-C499-00C21DB7F1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B6F2DF-9186-4B09-A425-EEEB38B7487C}" type="datetimeFigureOut">
              <a:rPr lang="de-CH" smtClean="0"/>
              <a:t>27.03.2026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46080E3-EA7A-5A4F-700A-11DB6F78B0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EC8F94-7B7B-EA21-AC66-0D3F203EB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3F5954-B70E-4A7E-9652-C79414A9AF98}" type="slidenum">
              <a:rPr lang="de-CH" smtClean="0"/>
              <a:t>‹Nr.›</a:t>
            </a:fld>
            <a:endParaRPr lang="de-CH"/>
          </a:p>
        </p:txBody>
      </p:sp>
      <p:sp>
        <p:nvSpPr>
          <p:cNvPr id="200" name="BottomAccent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gradFill>
            <a:gsLst>
              <a:gs pos="0">
                <a:srgbClr val="2D8B5E"/>
              </a:gs>
              <a:gs pos="40000">
                <a:srgbClr val="2D8B5E"/>
              </a:gs>
              <a:gs pos="60000">
                <a:srgbClr val="E8A838"/>
              </a:gs>
              <a:gs pos="80000">
                <a:srgbClr val="D4603A"/>
              </a:gs>
              <a:gs pos="100000">
                <a:srgbClr val="D4603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01" name="TopLine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D8B5E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02" name="SideAccent"/>
          <p:cNvSpPr/>
          <p:nvPr/>
        </p:nvSpPr>
        <p:spPr>
          <a:xfrm>
            <a:off x="0" y="54864"/>
            <a:ext cx="54864" cy="6711696"/>
          </a:xfrm>
          <a:prstGeom prst="rect">
            <a:avLst/>
          </a:prstGeom>
          <a:solidFill>
            <a:srgbClr val="2D8B5E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9825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B3D2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B3D2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B3D2F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B3D2F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B3D2F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B3D2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B3D2F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B3D2F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B3D2F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B3D2F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inTitle"/>
          <p:cNvSpPr/>
          <p:nvPr/>
        </p:nvSpPr>
        <p:spPr>
          <a:xfrm>
            <a:off x="914400" y="3048000"/>
            <a:ext cx="10363200" cy="12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de-DE" sz="5600" b="1" dirty="0">
                <a:solidFill>
                  <a:srgbClr val="1B3D2F"/>
                </a:solidFill>
                <a:latin typeface="Montserrat"/>
              </a:rPr>
              <a:t>RootRoute</a:t>
            </a:r>
          </a:p>
        </p:txBody>
      </p:sp>
      <p:sp>
        <p:nvSpPr>
          <p:cNvPr id="11" name="Subtitle"/>
          <p:cNvSpPr/>
          <p:nvPr/>
        </p:nvSpPr>
        <p:spPr>
          <a:xfrm>
            <a:off x="1371600" y="4318000"/>
            <a:ext cx="9448800" cy="7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ctr"/>
            <a:r>
              <a:rPr lang="de-DE" sz="2200" dirty="0">
                <a:solidFill>
                  <a:srgbClr val="2C5F4A"/>
                </a:solidFill>
                <a:latin typeface="Source Sans Pro"/>
              </a:rPr>
              <a:t>Vom Feld bis auf deinen Teller – Transparenz für bewussten Konsum</a:t>
            </a:r>
          </a:p>
        </p:txBody>
      </p:sp>
      <p:sp>
        <p:nvSpPr>
          <p:cNvPr id="12" name="AccLine"/>
          <p:cNvSpPr/>
          <p:nvPr/>
        </p:nvSpPr>
        <p:spPr>
          <a:xfrm>
            <a:off x="4826000" y="5143500"/>
            <a:ext cx="2540000" cy="36576"/>
          </a:xfrm>
          <a:prstGeom prst="rect">
            <a:avLst/>
          </a:prstGeom>
          <a:gradFill>
            <a:gsLst>
              <a:gs pos="0">
                <a:srgbClr val="2D8B5E"/>
              </a:gs>
              <a:gs pos="50000">
                <a:srgbClr val="E8A838"/>
              </a:gs>
              <a:gs pos="100000">
                <a:srgbClr val="D4603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8B3F1AA-7FB2-2A27-ED1E-E058F5977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0" y="1397000"/>
            <a:ext cx="25400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471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oblemTitle"/>
          <p:cNvSpPr/>
          <p:nvPr/>
        </p:nvSpPr>
        <p:spPr>
          <a:xfrm>
            <a:off x="457200" y="365760"/>
            <a:ext cx="10515600" cy="750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l"/>
            <a:r>
              <a:rPr lang="de-DE" sz="3600" b="1" dirty="0">
                <a:solidFill>
                  <a:srgbClr val="1B3D2F"/>
                </a:solidFill>
                <a:latin typeface="Montserrat"/>
              </a:rPr>
              <a:t>Das Problem</a:t>
            </a:r>
          </a:p>
        </p:txBody>
      </p:sp>
      <p:sp>
        <p:nvSpPr>
          <p:cNvPr id="30" name="PCard0"/>
          <p:cNvSpPr/>
          <p:nvPr/>
        </p:nvSpPr>
        <p:spPr>
          <a:xfrm>
            <a:off x="1046000" y="1905000"/>
            <a:ext cx="3200000" cy="3937000"/>
          </a:xfrm>
          <a:prstGeom prst="roundRect">
            <a:avLst>
              <a:gd name="adj" fmla="val 5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D4603A">
                <a:alpha val="30000"/>
              </a:srgbClr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40" name="PAccent0"/>
          <p:cNvSpPr/>
          <p:nvPr/>
        </p:nvSpPr>
        <p:spPr>
          <a:xfrm>
            <a:off x="1146000" y="1905000"/>
            <a:ext cx="3000000" cy="54864"/>
          </a:xfrm>
          <a:prstGeom prst="rect">
            <a:avLst/>
          </a:prstGeom>
          <a:solidFill>
            <a:srgbClr val="D4603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0" name="PText0"/>
          <p:cNvSpPr/>
          <p:nvPr/>
        </p:nvSpPr>
        <p:spPr>
          <a:xfrm>
            <a:off x="1226000" y="2857500"/>
            <a:ext cx="2840000" cy="2794000"/>
          </a:xfrm>
          <a:prstGeom prst="rect">
            <a:avLst/>
          </a:prstGeom>
          <a:noFill/>
          <a:ln>
            <a:noFill/>
          </a:ln>
        </p:spPr>
        <p:txBody>
          <a:bodyPr lIns="36000" rIns="36000" anchor="t"/>
          <a:lstStyle/>
          <a:p>
            <a:pPr>
              <a:buNone/>
            </a:pPr>
            <a:r>
              <a:rPr lang="de-DE" sz="1800" b="1" dirty="0">
                <a:solidFill>
                  <a:srgbClr val="D4603A"/>
                </a:solidFill>
                <a:latin typeface="Montserrat"/>
              </a:rPr>
              <a:t>Intransparente Lieferketten</a:t>
            </a:r>
          </a:p>
          <a:p>
            <a:pPr>
              <a:buNone/>
            </a:pPr>
            <a:r>
              <a:rPr lang="de-DE" sz="1500" dirty="0">
                <a:solidFill>
                  <a:srgbClr val="1B3D2F"/>
                </a:solidFill>
                <a:latin typeface="Source Sans Pro"/>
              </a:rPr>
              <a:t>Woher kommen unsere Lebensmittel? Lieferketten sind komplex und für Verbraucher nicht nachvollziehbar.</a:t>
            </a:r>
          </a:p>
        </p:txBody>
      </p:sp>
      <p:sp>
        <p:nvSpPr>
          <p:cNvPr id="31" name="PCard1"/>
          <p:cNvSpPr/>
          <p:nvPr/>
        </p:nvSpPr>
        <p:spPr>
          <a:xfrm>
            <a:off x="4496000" y="1905000"/>
            <a:ext cx="3200000" cy="3937000"/>
          </a:xfrm>
          <a:prstGeom prst="roundRect">
            <a:avLst>
              <a:gd name="adj" fmla="val 5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E8A838">
                <a:alpha val="30000"/>
              </a:srgbClr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41" name="PAccent1"/>
          <p:cNvSpPr/>
          <p:nvPr/>
        </p:nvSpPr>
        <p:spPr>
          <a:xfrm>
            <a:off x="4596000" y="1905000"/>
            <a:ext cx="3000000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1" name="PText1"/>
          <p:cNvSpPr/>
          <p:nvPr/>
        </p:nvSpPr>
        <p:spPr>
          <a:xfrm>
            <a:off x="4676000" y="2857500"/>
            <a:ext cx="2840000" cy="2794000"/>
          </a:xfrm>
          <a:prstGeom prst="rect">
            <a:avLst/>
          </a:prstGeom>
          <a:noFill/>
          <a:ln>
            <a:noFill/>
          </a:ln>
        </p:spPr>
        <p:txBody>
          <a:bodyPr lIns="36000" rIns="36000" anchor="t"/>
          <a:lstStyle/>
          <a:p>
            <a:pPr>
              <a:buNone/>
            </a:pPr>
            <a:r>
              <a:rPr lang="de-DE" sz="1800" b="1" dirty="0">
                <a:solidFill>
                  <a:srgbClr val="E8A838"/>
                </a:solidFill>
                <a:latin typeface="Montserrat"/>
              </a:rPr>
              <a:t>Verlorener Bezug</a:t>
            </a:r>
          </a:p>
          <a:p>
            <a:pPr>
              <a:buNone/>
            </a:pPr>
            <a:r>
              <a:rPr lang="de-DE" sz="1500" dirty="0">
                <a:solidFill>
                  <a:srgbClr val="1B3D2F"/>
                </a:solidFill>
                <a:latin typeface="Source Sans Pro"/>
              </a:rPr>
              <a:t>Volle Regale – aber der persönliche Bezug zu Herkunft und Qualität unserer Nahrung fehlt.</a:t>
            </a:r>
          </a:p>
        </p:txBody>
      </p:sp>
      <p:sp>
        <p:nvSpPr>
          <p:cNvPr id="32" name="PCard2"/>
          <p:cNvSpPr/>
          <p:nvPr/>
        </p:nvSpPr>
        <p:spPr>
          <a:xfrm>
            <a:off x="7946000" y="1905000"/>
            <a:ext cx="3200000" cy="3937000"/>
          </a:xfrm>
          <a:prstGeom prst="roundRect">
            <a:avLst>
              <a:gd name="adj" fmla="val 5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2D8B5E">
                <a:alpha val="30000"/>
              </a:srgbClr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42" name="PAccent2"/>
          <p:cNvSpPr/>
          <p:nvPr/>
        </p:nvSpPr>
        <p:spPr>
          <a:xfrm>
            <a:off x="8046000" y="1905000"/>
            <a:ext cx="3000000" cy="54864"/>
          </a:xfrm>
          <a:prstGeom prst="rect">
            <a:avLst/>
          </a:prstGeom>
          <a:solidFill>
            <a:srgbClr val="2D8B5E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2" name="PText2"/>
          <p:cNvSpPr/>
          <p:nvPr/>
        </p:nvSpPr>
        <p:spPr>
          <a:xfrm>
            <a:off x="8126000" y="2857500"/>
            <a:ext cx="2840000" cy="2794000"/>
          </a:xfrm>
          <a:prstGeom prst="rect">
            <a:avLst/>
          </a:prstGeom>
          <a:noFill/>
          <a:ln>
            <a:noFill/>
          </a:ln>
        </p:spPr>
        <p:txBody>
          <a:bodyPr lIns="36000" rIns="36000" anchor="t"/>
          <a:lstStyle/>
          <a:p>
            <a:pPr>
              <a:buNone/>
            </a:pPr>
            <a:r>
              <a:rPr lang="de-DE" sz="1800" b="1" dirty="0">
                <a:solidFill>
                  <a:srgbClr val="2D8B5E"/>
                </a:solidFill>
                <a:latin typeface="Montserrat"/>
              </a:rPr>
              <a:t>Sinkendes Vertrauen</a:t>
            </a:r>
          </a:p>
          <a:p>
            <a:pPr>
              <a:buNone/>
            </a:pPr>
            <a:r>
              <a:rPr lang="de-DE" sz="1500" dirty="0">
                <a:solidFill>
                  <a:srgbClr val="1B3D2F"/>
                </a:solidFill>
                <a:latin typeface="Source Sans Pro"/>
              </a:rPr>
              <a:t>Verbraucher können Herkunft kaum prüfen. Das Vertrauen in die Lebensmittelindustrie sinkt stetig.</a:t>
            </a:r>
          </a:p>
        </p:txBody>
      </p:sp>
      <p:pic>
        <p:nvPicPr>
          <p:cNvPr id="53" name="Graphic 53" descr="Warning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87600" y="2159000"/>
            <a:ext cx="457200" cy="457200"/>
          </a:xfrm>
          <a:prstGeom prst="rect">
            <a:avLst/>
          </a:prstGeom>
        </p:spPr>
      </p:pic>
      <p:pic>
        <p:nvPicPr>
          <p:cNvPr id="54" name="Graphic 54" descr="Questions icon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2000" y="2159000"/>
            <a:ext cx="457200" cy="457200"/>
          </a:xfrm>
          <a:prstGeom prst="rect">
            <a:avLst/>
          </a:prstGeom>
        </p:spPr>
      </p:pic>
      <p:pic>
        <p:nvPicPr>
          <p:cNvPr id="55" name="Graphic 55" descr="Shield trust icon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96400" y="21590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233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olutionTitle"/>
          <p:cNvSpPr/>
          <p:nvPr/>
        </p:nvSpPr>
        <p:spPr>
          <a:xfrm>
            <a:off x="457200" y="274638"/>
            <a:ext cx="10515600" cy="750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l"/>
            <a:r>
              <a:rPr lang="de-DE" sz="3600" b="1" dirty="0">
                <a:solidFill>
                  <a:srgbClr val="1B3D2F"/>
                </a:solidFill>
                <a:latin typeface="Montserrat"/>
              </a:rPr>
              <a:t>Unsere Lösung: RootRoute</a:t>
            </a:r>
          </a:p>
        </p:txBody>
      </p:sp>
      <p:sp>
        <p:nvSpPr>
          <p:cNvPr id="20" name="ValueProp"/>
          <p:cNvSpPr/>
          <p:nvPr/>
        </p:nvSpPr>
        <p:spPr>
          <a:xfrm>
            <a:off x="457200" y="1397000"/>
            <a:ext cx="4826000" cy="4699000"/>
          </a:xfrm>
          <a:prstGeom prst="roundRect">
            <a:avLst>
              <a:gd name="adj" fmla="val 5000"/>
            </a:avLst>
          </a:prstGeom>
          <a:solidFill>
            <a:srgbClr val="2D8B5E"/>
          </a:solidFill>
          <a:ln>
            <a:noFill/>
          </a:ln>
        </p:spPr>
        <p:txBody>
          <a:bodyPr lIns="274320" tIns="182880" rIns="274320" bIns="182880" anchor="ctr"/>
          <a:lstStyle/>
          <a:p>
            <a:pPr>
              <a:buNone/>
            </a:pPr>
            <a:r>
              <a:rPr lang="de-DE" sz="2800" b="1" dirty="0">
                <a:solidFill>
                  <a:srgbClr val="FFFFFF"/>
                </a:solidFill>
                <a:latin typeface="Montserrat"/>
              </a:rPr>
              <a:t>RootRoute macht Lieferketten sichtbar.</a:t>
            </a:r>
          </a:p>
          <a:p>
            <a:pPr>
              <a:buNone/>
            </a:pPr>
            <a:r>
              <a:rPr lang="de-DE" sz="1600" dirty="0">
                <a:solidFill>
                  <a:srgbClr val="E8F5E9"/>
                </a:solidFill>
                <a:latin typeface="Source Sans Pro"/>
              </a:rPr>
              <a:t>Von der Ernte bis auf deinen Teller – mit einem Scan weißt du alles über dein Essen.</a:t>
            </a:r>
          </a:p>
        </p:txBody>
      </p:sp>
      <p:sp>
        <p:nvSpPr>
          <p:cNvPr id="60" name="Dot0"/>
          <p:cNvSpPr/>
          <p:nvPr/>
        </p:nvSpPr>
        <p:spPr>
          <a:xfrm>
            <a:off x="5588000" y="1460500"/>
            <a:ext cx="177800" cy="177800"/>
          </a:xfrm>
          <a:prstGeom prst="ellipse">
            <a:avLst/>
          </a:prstGeom>
          <a:solidFill>
            <a:srgbClr val="2D8B5E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0" name="Feature0"/>
          <p:cNvSpPr/>
          <p:nvPr/>
        </p:nvSpPr>
        <p:spPr>
          <a:xfrm>
            <a:off x="5918200" y="1333500"/>
            <a:ext cx="6096000" cy="825500"/>
          </a:xfrm>
          <a:prstGeom prst="rect">
            <a:avLst/>
          </a:prstGeom>
          <a:noFill/>
          <a:ln>
            <a:noFill/>
          </a:ln>
        </p:spPr>
        <p:txBody>
          <a:bodyPr lIns="36000" rIns="36000" anchor="t"/>
          <a:lstStyle/>
          <a:p>
            <a:pPr>
              <a:buNone/>
            </a:pPr>
            <a:r>
              <a:rPr lang="de-DE" sz="1600" b="1" dirty="0">
                <a:solidFill>
                  <a:srgbClr val="1B3D2F"/>
                </a:solidFill>
                <a:latin typeface="Montserrat"/>
              </a:rPr>
              <a:t>KI-Bilderkennung</a:t>
            </a:r>
          </a:p>
          <a:p>
            <a:pPr>
              <a:buNone/>
            </a:pPr>
            <a:r>
              <a:rPr lang="de-DE" sz="1400" dirty="0">
                <a:solidFill>
                  <a:srgbClr val="2C5F4A"/>
                </a:solidFill>
                <a:latin typeface="Source Sans Pro"/>
              </a:rPr>
              <a:t>Barcode oder Batch-Nummer scannen</a:t>
            </a:r>
          </a:p>
        </p:txBody>
      </p:sp>
      <p:sp>
        <p:nvSpPr>
          <p:cNvPr id="61" name="Dot1"/>
          <p:cNvSpPr/>
          <p:nvPr/>
        </p:nvSpPr>
        <p:spPr>
          <a:xfrm>
            <a:off x="5588000" y="2374900"/>
            <a:ext cx="177800" cy="177800"/>
          </a:xfrm>
          <a:prstGeom prst="ellipse">
            <a:avLst/>
          </a:prstGeom>
          <a:solidFill>
            <a:srgbClr val="2D8B5E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1" name="Feature1"/>
          <p:cNvSpPr/>
          <p:nvPr/>
        </p:nvSpPr>
        <p:spPr>
          <a:xfrm>
            <a:off x="5918200" y="2247900"/>
            <a:ext cx="6096000" cy="825500"/>
          </a:xfrm>
          <a:prstGeom prst="rect">
            <a:avLst/>
          </a:prstGeom>
          <a:noFill/>
          <a:ln>
            <a:noFill/>
          </a:ln>
        </p:spPr>
        <p:txBody>
          <a:bodyPr lIns="36000" rIns="36000" anchor="t"/>
          <a:lstStyle/>
          <a:p>
            <a:pPr>
              <a:buNone/>
            </a:pPr>
            <a:r>
              <a:rPr lang="de-DE" sz="1600" b="1" dirty="0">
                <a:solidFill>
                  <a:srgbClr val="1B3D2F"/>
                </a:solidFill>
                <a:latin typeface="Montserrat"/>
              </a:rPr>
              <a:t>Echtzeit-Tracking</a:t>
            </a:r>
          </a:p>
          <a:p>
            <a:pPr>
              <a:buNone/>
            </a:pPr>
            <a:r>
              <a:rPr lang="de-DE" sz="1400" dirty="0">
                <a:solidFill>
                  <a:srgbClr val="2C5F4A"/>
                </a:solidFill>
                <a:latin typeface="Source Sans Pro"/>
              </a:rPr>
              <a:t>Vom Feld über die Fabrik bis ins Regal</a:t>
            </a:r>
          </a:p>
        </p:txBody>
      </p:sp>
      <p:sp>
        <p:nvSpPr>
          <p:cNvPr id="62" name="Dot2"/>
          <p:cNvSpPr/>
          <p:nvPr/>
        </p:nvSpPr>
        <p:spPr>
          <a:xfrm>
            <a:off x="5588000" y="3289300"/>
            <a:ext cx="177800" cy="177800"/>
          </a:xfrm>
          <a:prstGeom prst="ellipse">
            <a:avLst/>
          </a:prstGeom>
          <a:solidFill>
            <a:srgbClr val="2D8B5E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2" name="Feature2"/>
          <p:cNvSpPr/>
          <p:nvPr/>
        </p:nvSpPr>
        <p:spPr>
          <a:xfrm>
            <a:off x="5918200" y="3162300"/>
            <a:ext cx="6096000" cy="825500"/>
          </a:xfrm>
          <a:prstGeom prst="rect">
            <a:avLst/>
          </a:prstGeom>
          <a:noFill/>
          <a:ln>
            <a:noFill/>
          </a:ln>
        </p:spPr>
        <p:txBody>
          <a:bodyPr lIns="36000" rIns="36000" anchor="t"/>
          <a:lstStyle/>
          <a:p>
            <a:pPr>
              <a:buNone/>
            </a:pPr>
            <a:r>
              <a:rPr lang="de-DE" sz="1600" b="1" dirty="0">
                <a:solidFill>
                  <a:srgbClr val="1B3D2F"/>
                </a:solidFill>
                <a:latin typeface="Montserrat"/>
              </a:rPr>
              <a:t>IoT-Sensordaten</a:t>
            </a:r>
          </a:p>
          <a:p>
            <a:pPr>
              <a:buNone/>
            </a:pPr>
            <a:r>
              <a:rPr lang="de-DE" sz="1400" dirty="0">
                <a:solidFill>
                  <a:srgbClr val="2C5F4A"/>
                </a:solidFill>
                <a:latin typeface="Source Sans Pro"/>
              </a:rPr>
              <a:t>Temperatur, Feuchtigkeit, Lagerbedingungen</a:t>
            </a:r>
          </a:p>
        </p:txBody>
      </p:sp>
      <p:sp>
        <p:nvSpPr>
          <p:cNvPr id="63" name="Dot3"/>
          <p:cNvSpPr/>
          <p:nvPr/>
        </p:nvSpPr>
        <p:spPr>
          <a:xfrm>
            <a:off x="5588000" y="4203700"/>
            <a:ext cx="177800" cy="177800"/>
          </a:xfrm>
          <a:prstGeom prst="ellipse">
            <a:avLst/>
          </a:prstGeom>
          <a:solidFill>
            <a:srgbClr val="2D8B5E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3" name="Feature3"/>
          <p:cNvSpPr/>
          <p:nvPr/>
        </p:nvSpPr>
        <p:spPr>
          <a:xfrm>
            <a:off x="5918200" y="4076700"/>
            <a:ext cx="6096000" cy="825500"/>
          </a:xfrm>
          <a:prstGeom prst="rect">
            <a:avLst/>
          </a:prstGeom>
          <a:noFill/>
          <a:ln>
            <a:noFill/>
          </a:ln>
        </p:spPr>
        <p:txBody>
          <a:bodyPr lIns="36000" rIns="36000" anchor="t"/>
          <a:lstStyle/>
          <a:p>
            <a:pPr>
              <a:buNone/>
            </a:pPr>
            <a:r>
              <a:rPr lang="de-DE" sz="1600" b="1" dirty="0">
                <a:solidFill>
                  <a:srgbClr val="1B3D2F"/>
                </a:solidFill>
                <a:latin typeface="Montserrat"/>
              </a:rPr>
              <a:t>KI-Assistent</a:t>
            </a:r>
          </a:p>
          <a:p>
            <a:pPr>
              <a:buNone/>
            </a:pPr>
            <a:r>
              <a:rPr lang="de-DE" sz="1400" dirty="0">
                <a:solidFill>
                  <a:srgbClr val="2C5F4A"/>
                </a:solidFill>
                <a:latin typeface="Source Sans Pro"/>
              </a:rPr>
              <a:t>Analysiert Inhaltsstoffe auf Gesundheit</a:t>
            </a:r>
          </a:p>
        </p:txBody>
      </p:sp>
      <p:sp>
        <p:nvSpPr>
          <p:cNvPr id="64" name="Dot4"/>
          <p:cNvSpPr/>
          <p:nvPr/>
        </p:nvSpPr>
        <p:spPr>
          <a:xfrm>
            <a:off x="5588000" y="5118100"/>
            <a:ext cx="177800" cy="177800"/>
          </a:xfrm>
          <a:prstGeom prst="ellipse">
            <a:avLst/>
          </a:prstGeom>
          <a:solidFill>
            <a:srgbClr val="2D8B5E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4" name="Feature4"/>
          <p:cNvSpPr/>
          <p:nvPr/>
        </p:nvSpPr>
        <p:spPr>
          <a:xfrm>
            <a:off x="5918200" y="4991100"/>
            <a:ext cx="6096000" cy="825500"/>
          </a:xfrm>
          <a:prstGeom prst="rect">
            <a:avLst/>
          </a:prstGeom>
          <a:noFill/>
          <a:ln>
            <a:noFill/>
          </a:ln>
        </p:spPr>
        <p:txBody>
          <a:bodyPr lIns="36000" rIns="36000" anchor="t"/>
          <a:lstStyle/>
          <a:p>
            <a:pPr>
              <a:buNone/>
            </a:pPr>
            <a:r>
              <a:rPr lang="de-DE" sz="1600" b="1" dirty="0">
                <a:solidFill>
                  <a:srgbClr val="1B3D2F"/>
                </a:solidFill>
                <a:latin typeface="Montserrat"/>
              </a:rPr>
              <a:t>Community</a:t>
            </a:r>
          </a:p>
          <a:p>
            <a:pPr>
              <a:buNone/>
            </a:pPr>
            <a:r>
              <a:rPr lang="de-DE" sz="1400" dirty="0">
                <a:solidFill>
                  <a:srgbClr val="2C5F4A"/>
                </a:solidFill>
                <a:latin typeface="Source Sans Pro"/>
              </a:rPr>
              <a:t>Belohnungssystem fördert Transparenz</a:t>
            </a:r>
          </a:p>
        </p:txBody>
      </p:sp>
    </p:spTree>
    <p:extLst>
      <p:ext uri="{BB962C8B-B14F-4D97-AF65-F5344CB8AC3E}">
        <p14:creationId xmlns:p14="http://schemas.microsoft.com/office/powerpoint/2010/main" val="1875965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tep1"/>
          <p:cNvSpPr/>
          <p:nvPr/>
        </p:nvSpPr>
        <p:spPr>
          <a:xfrm>
            <a:off x="996000" y="1968500"/>
            <a:ext cx="2400000" cy="2032000"/>
          </a:xfrm>
          <a:prstGeom prst="chevron">
            <a:avLst>
              <a:gd name="adj" fmla="val 25000"/>
            </a:avLst>
          </a:prstGeom>
          <a:solidFill>
            <a:srgbClr val="2D8B5E"/>
          </a:solidFill>
          <a:ln>
            <a:noFill/>
          </a:ln>
        </p:spPr>
        <p:txBody>
          <a:bodyPr lIns="36000" tIns="36000" rIns="36000" bIns="36000" anchor="ctr" anchorCtr="1"/>
          <a:lstStyle/>
          <a:p>
            <a:pPr algn="ctr"/>
            <a:r>
              <a:rPr lang="de-DE" sz="1600" b="1" dirty="0">
                <a:solidFill>
                  <a:srgbClr val="FFFFFF"/>
                </a:solidFill>
                <a:latin typeface="Montserrat"/>
              </a:rPr>
              <a:t>1. Scannen</a:t>
            </a:r>
          </a:p>
        </p:txBody>
      </p:sp>
      <p:sp>
        <p:nvSpPr>
          <p:cNvPr id="60" name="Desc1"/>
          <p:cNvSpPr/>
          <p:nvPr/>
        </p:nvSpPr>
        <p:spPr>
          <a:xfrm>
            <a:off x="996000" y="4191000"/>
            <a:ext cx="2400000" cy="1397000"/>
          </a:xfrm>
          <a:prstGeom prst="rect">
            <a:avLst/>
          </a:prstGeom>
          <a:noFill/>
          <a:ln>
            <a:noFill/>
          </a:ln>
        </p:spPr>
        <p:txBody>
          <a:bodyPr lIns="36000" tIns="36000" rIns="36000" bIns="36000" anchor="t"/>
          <a:lstStyle/>
          <a:p>
            <a:pPr algn="ctr"/>
            <a:r>
              <a:rPr lang="de-DE" sz="1400" dirty="0">
                <a:solidFill>
                  <a:srgbClr val="2C5F4A"/>
                </a:solidFill>
                <a:latin typeface="Source Sans Pro"/>
              </a:rPr>
              <a:t>Barcode oder
Batch-Nummer</a:t>
            </a:r>
          </a:p>
        </p:txBody>
      </p:sp>
      <p:sp>
        <p:nvSpPr>
          <p:cNvPr id="51" name="Step2"/>
          <p:cNvSpPr/>
          <p:nvPr/>
        </p:nvSpPr>
        <p:spPr>
          <a:xfrm>
            <a:off x="3596000" y="1968500"/>
            <a:ext cx="2400000" cy="2032000"/>
          </a:xfrm>
          <a:prstGeom prst="chevron">
            <a:avLst>
              <a:gd name="adj" fmla="val 25000"/>
            </a:avLst>
          </a:prstGeom>
          <a:solidFill>
            <a:srgbClr val="E8A838"/>
          </a:solidFill>
          <a:ln>
            <a:noFill/>
          </a:ln>
        </p:spPr>
        <p:txBody>
          <a:bodyPr lIns="36000" tIns="36000" rIns="36000" bIns="36000" anchor="ctr" anchorCtr="1"/>
          <a:lstStyle/>
          <a:p>
            <a:pPr algn="ctr"/>
            <a:r>
              <a:rPr lang="de-DE" sz="1600" b="1" dirty="0">
                <a:solidFill>
                  <a:srgbClr val="FFFFFF"/>
                </a:solidFill>
                <a:latin typeface="Montserrat"/>
              </a:rPr>
              <a:t>2. Verfolgen</a:t>
            </a:r>
          </a:p>
        </p:txBody>
      </p:sp>
      <p:sp>
        <p:nvSpPr>
          <p:cNvPr id="61" name="Desc2"/>
          <p:cNvSpPr/>
          <p:nvPr/>
        </p:nvSpPr>
        <p:spPr>
          <a:xfrm>
            <a:off x="3596000" y="4191000"/>
            <a:ext cx="2400000" cy="1397000"/>
          </a:xfrm>
          <a:prstGeom prst="rect">
            <a:avLst/>
          </a:prstGeom>
          <a:noFill/>
          <a:ln>
            <a:noFill/>
          </a:ln>
        </p:spPr>
        <p:txBody>
          <a:bodyPr lIns="36000" tIns="36000" rIns="36000" bIns="36000" anchor="t"/>
          <a:lstStyle/>
          <a:p>
            <a:pPr algn="ctr"/>
            <a:r>
              <a:rPr lang="de-DE" sz="1400" dirty="0">
                <a:solidFill>
                  <a:srgbClr val="2C5F4A"/>
                </a:solidFill>
                <a:latin typeface="Source Sans Pro"/>
              </a:rPr>
              <a:t>Lieferkette in
Echtzeit</a:t>
            </a:r>
          </a:p>
        </p:txBody>
      </p:sp>
      <p:sp>
        <p:nvSpPr>
          <p:cNvPr id="52" name="Step3"/>
          <p:cNvSpPr/>
          <p:nvPr/>
        </p:nvSpPr>
        <p:spPr>
          <a:xfrm>
            <a:off x="6196000" y="1968500"/>
            <a:ext cx="2400000" cy="2032000"/>
          </a:xfrm>
          <a:prstGeom prst="chevron">
            <a:avLst>
              <a:gd name="adj" fmla="val 25000"/>
            </a:avLst>
          </a:prstGeom>
          <a:solidFill>
            <a:srgbClr val="3A7CA5"/>
          </a:solidFill>
          <a:ln>
            <a:noFill/>
          </a:ln>
        </p:spPr>
        <p:txBody>
          <a:bodyPr lIns="36000" tIns="36000" rIns="36000" bIns="36000" anchor="ctr" anchorCtr="1"/>
          <a:lstStyle/>
          <a:p>
            <a:pPr algn="ctr"/>
            <a:r>
              <a:rPr lang="de-DE" sz="1500" b="1" dirty="0">
                <a:solidFill>
                  <a:srgbClr val="FFFFFF"/>
                </a:solidFill>
                <a:latin typeface="Montserrat"/>
              </a:rPr>
              <a:t>3. Analysieren</a:t>
            </a:r>
          </a:p>
        </p:txBody>
      </p:sp>
      <p:sp>
        <p:nvSpPr>
          <p:cNvPr id="62" name="Desc3"/>
          <p:cNvSpPr/>
          <p:nvPr/>
        </p:nvSpPr>
        <p:spPr>
          <a:xfrm>
            <a:off x="6196000" y="4191000"/>
            <a:ext cx="2400000" cy="1397000"/>
          </a:xfrm>
          <a:prstGeom prst="rect">
            <a:avLst/>
          </a:prstGeom>
          <a:noFill/>
          <a:ln>
            <a:noFill/>
          </a:ln>
        </p:spPr>
        <p:txBody>
          <a:bodyPr lIns="36000" tIns="36000" rIns="36000" bIns="36000" anchor="t"/>
          <a:lstStyle/>
          <a:p>
            <a:pPr algn="ctr"/>
            <a:r>
              <a:rPr lang="de-DE" sz="1400" dirty="0">
                <a:solidFill>
                  <a:srgbClr val="2C5F4A"/>
                </a:solidFill>
                <a:latin typeface="Source Sans Pro"/>
              </a:rPr>
              <a:t>KI prüft Qualität
&amp; Nachhaltigkeit</a:t>
            </a:r>
          </a:p>
        </p:txBody>
      </p:sp>
      <p:sp>
        <p:nvSpPr>
          <p:cNvPr id="53" name="Step4"/>
          <p:cNvSpPr/>
          <p:nvPr/>
        </p:nvSpPr>
        <p:spPr>
          <a:xfrm>
            <a:off x="8796000" y="1968500"/>
            <a:ext cx="2400000" cy="2032000"/>
          </a:xfrm>
          <a:prstGeom prst="chevron">
            <a:avLst>
              <a:gd name="adj" fmla="val 25000"/>
            </a:avLst>
          </a:prstGeom>
          <a:solidFill>
            <a:srgbClr val="D4603A"/>
          </a:solidFill>
          <a:ln>
            <a:noFill/>
          </a:ln>
        </p:spPr>
        <p:txBody>
          <a:bodyPr lIns="36000" tIns="36000" rIns="36000" bIns="36000" anchor="ctr" anchorCtr="1"/>
          <a:lstStyle/>
          <a:p>
            <a:pPr algn="ctr"/>
            <a:r>
              <a:rPr lang="de-DE" sz="1500" b="1" dirty="0">
                <a:solidFill>
                  <a:srgbClr val="FFFFFF"/>
                </a:solidFill>
                <a:latin typeface="Montserrat"/>
              </a:rPr>
              <a:t>4. Bewusst wählen</a:t>
            </a:r>
          </a:p>
        </p:txBody>
      </p:sp>
      <p:sp>
        <p:nvSpPr>
          <p:cNvPr id="63" name="Desc4"/>
          <p:cNvSpPr/>
          <p:nvPr/>
        </p:nvSpPr>
        <p:spPr>
          <a:xfrm>
            <a:off x="8796000" y="4191000"/>
            <a:ext cx="2400000" cy="1397000"/>
          </a:xfrm>
          <a:prstGeom prst="rect">
            <a:avLst/>
          </a:prstGeom>
          <a:noFill/>
          <a:ln>
            <a:noFill/>
          </a:ln>
        </p:spPr>
        <p:txBody>
          <a:bodyPr lIns="36000" tIns="36000" rIns="36000" bIns="36000" anchor="t"/>
          <a:lstStyle/>
          <a:p>
            <a:pPr algn="ctr"/>
            <a:r>
              <a:rPr lang="de-DE" sz="1400" dirty="0">
                <a:solidFill>
                  <a:srgbClr val="2C5F4A"/>
                </a:solidFill>
                <a:latin typeface="Source Sans Pro"/>
              </a:rPr>
              <a:t>Bewusst &amp;
informiert kaufen</a:t>
            </a:r>
          </a:p>
        </p:txBody>
      </p:sp>
      <p:sp>
        <p:nvSpPr>
          <p:cNvPr id="5" name="SlideTitle"/>
          <p:cNvSpPr/>
          <p:nvPr/>
        </p:nvSpPr>
        <p:spPr>
          <a:xfrm>
            <a:off x="457200" y="274638"/>
            <a:ext cx="10515600" cy="750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l"/>
            <a:r>
              <a:rPr lang="de-DE" sz="3600" b="1" dirty="0">
                <a:solidFill>
                  <a:srgbClr val="1B3D2F"/>
                </a:solidFill>
                <a:latin typeface="Montserrat"/>
              </a:rPr>
              <a:t>So funktioniert’s</a:t>
            </a:r>
          </a:p>
        </p:txBody>
      </p:sp>
    </p:spTree>
    <p:extLst>
      <p:ext uri="{BB962C8B-B14F-4D97-AF65-F5344CB8AC3E}">
        <p14:creationId xmlns:p14="http://schemas.microsoft.com/office/powerpoint/2010/main" val="1949836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Card0"/>
          <p:cNvSpPr/>
          <p:nvPr/>
        </p:nvSpPr>
        <p:spPr>
          <a:xfrm>
            <a:off x="696000" y="2032000"/>
            <a:ext cx="3400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8DF"/>
            </a:solidFill>
          </a:ln>
          <a:effectLst>
            <a:outerShdw blurRad="40000" dist="20000" dir="5400000" algn="ctr" rotWithShape="0">
              <a:srgbClr val="000000">
                <a:alpha val="10000"/>
              </a:srgbClr>
            </a:outerShdw>
          </a:effectLst>
        </p:spPr>
        <p:txBody>
          <a:bodyPr lIns="144000" tIns="144000" rIns="144000" bIns="144000" anchor="t"/>
          <a:lstStyle/>
          <a:p>
            <a:endParaRPr lang="de-DE"/>
          </a:p>
        </p:txBody>
      </p:sp>
      <p:sp>
        <p:nvSpPr>
          <p:cNvPr id="80" name="Icon0"/>
          <p:cNvSpPr/>
          <p:nvPr/>
        </p:nvSpPr>
        <p:spPr>
          <a:xfrm>
            <a:off x="2096000" y="2286000"/>
            <a:ext cx="600000" cy="600000"/>
          </a:xfrm>
          <a:prstGeom prst="ellipse">
            <a:avLst/>
          </a:prstGeom>
          <a:solidFill>
            <a:srgbClr val="2D8B5E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de-DE" sz="1400" b="1" dirty="0">
                <a:solidFill>
                  <a:srgbClr val="FFFFFF"/>
                </a:solidFill>
                <a:latin typeface="Montserrat"/>
              </a:rPr>
              <a:t>KI</a:t>
            </a:r>
          </a:p>
        </p:txBody>
      </p:sp>
      <p:sp>
        <p:nvSpPr>
          <p:cNvPr id="90" name="Text0"/>
          <p:cNvSpPr/>
          <p:nvPr/>
        </p:nvSpPr>
        <p:spPr>
          <a:xfrm>
            <a:off x="840000" y="3048000"/>
            <a:ext cx="3112000" cy="228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/>
            <a:r>
              <a:rPr lang="de-DE" sz="1800" b="1" dirty="0">
                <a:solidFill>
                  <a:srgbClr val="1B3D2F"/>
                </a:solidFill>
                <a:latin typeface="Montserrat"/>
              </a:rPr>
              <a:t>KI-Bilderkennung</a:t>
            </a:r>
          </a:p>
          <a:p>
            <a:pPr algn="ctr">
              <a:spcBef>
                <a:spcPts val="600"/>
              </a:spcBef>
            </a:pPr>
            <a:r>
              <a:rPr lang="de-DE" sz="1400" dirty="0">
                <a:solidFill>
                  <a:srgbClr val="2C5F4A"/>
                </a:solidFill>
                <a:latin typeface="Source Sans Pro"/>
              </a:rPr>
              <a:t>Produkte per Foto, Barcode oder Batch-Nummer sofort identifizieren und die gesamte Lieferkette aufdecken</a:t>
            </a:r>
          </a:p>
        </p:txBody>
      </p:sp>
      <p:sp>
        <p:nvSpPr>
          <p:cNvPr id="71" name="Card1"/>
          <p:cNvSpPr/>
          <p:nvPr/>
        </p:nvSpPr>
        <p:spPr>
          <a:xfrm>
            <a:off x="4396000" y="2032000"/>
            <a:ext cx="3400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8DF"/>
            </a:solidFill>
          </a:ln>
          <a:effectLst>
            <a:outerShdw blurRad="40000" dist="20000" dir="5400000" algn="ctr" rotWithShape="0">
              <a:srgbClr val="000000">
                <a:alpha val="10000"/>
              </a:srgbClr>
            </a:outerShdw>
          </a:effectLst>
        </p:spPr>
        <p:txBody>
          <a:bodyPr lIns="144000" tIns="144000" rIns="144000" bIns="144000" anchor="t"/>
          <a:lstStyle/>
          <a:p>
            <a:endParaRPr lang="de-DE"/>
          </a:p>
        </p:txBody>
      </p:sp>
      <p:sp>
        <p:nvSpPr>
          <p:cNvPr id="81" name="Icon1"/>
          <p:cNvSpPr/>
          <p:nvPr/>
        </p:nvSpPr>
        <p:spPr>
          <a:xfrm>
            <a:off x="5796000" y="2286000"/>
            <a:ext cx="600000" cy="60000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de-DE" sz="1400" b="1" dirty="0">
                <a:solidFill>
                  <a:srgbClr val="FFFFFF"/>
                </a:solidFill>
                <a:latin typeface="Montserrat"/>
              </a:rPr>
              <a:t>IoT</a:t>
            </a:r>
          </a:p>
        </p:txBody>
      </p:sp>
      <p:sp>
        <p:nvSpPr>
          <p:cNvPr id="91" name="Text1"/>
          <p:cNvSpPr/>
          <p:nvPr/>
        </p:nvSpPr>
        <p:spPr>
          <a:xfrm>
            <a:off x="4540000" y="3048000"/>
            <a:ext cx="3112000" cy="228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/>
            <a:r>
              <a:rPr lang="de-DE" sz="1800" b="1" dirty="0">
                <a:solidFill>
                  <a:srgbClr val="1B3D2F"/>
                </a:solidFill>
                <a:latin typeface="Montserrat"/>
              </a:rPr>
              <a:t>IoT-Sensordaten</a:t>
            </a:r>
          </a:p>
          <a:p>
            <a:pPr algn="ctr">
              <a:spcBef>
                <a:spcPts val="600"/>
              </a:spcBef>
            </a:pPr>
            <a:r>
              <a:rPr lang="de-DE" sz="1400" dirty="0">
                <a:solidFill>
                  <a:srgbClr val="2C5F4A"/>
                </a:solidFill>
                <a:latin typeface="Source Sans Pro"/>
              </a:rPr>
              <a:t>Simulierte Echtzeit-Daten zu Temperatur, Feuchtigkeit und Lagerbedingungen entlang der Lieferkette</a:t>
            </a:r>
          </a:p>
        </p:txBody>
      </p:sp>
      <p:sp>
        <p:nvSpPr>
          <p:cNvPr id="72" name="Card2"/>
          <p:cNvSpPr/>
          <p:nvPr/>
        </p:nvSpPr>
        <p:spPr>
          <a:xfrm>
            <a:off x="8096000" y="2032000"/>
            <a:ext cx="3400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8DF"/>
            </a:solidFill>
          </a:ln>
          <a:effectLst>
            <a:outerShdw blurRad="40000" dist="20000" dir="5400000" algn="ctr" rotWithShape="0">
              <a:srgbClr val="000000">
                <a:alpha val="10000"/>
              </a:srgbClr>
            </a:outerShdw>
          </a:effectLst>
        </p:spPr>
        <p:txBody>
          <a:bodyPr lIns="144000" tIns="144000" rIns="144000" bIns="144000" anchor="t"/>
          <a:lstStyle/>
          <a:p>
            <a:endParaRPr lang="de-DE"/>
          </a:p>
        </p:txBody>
      </p:sp>
      <p:sp>
        <p:nvSpPr>
          <p:cNvPr id="82" name="Icon2"/>
          <p:cNvSpPr/>
          <p:nvPr/>
        </p:nvSpPr>
        <p:spPr>
          <a:xfrm>
            <a:off x="9496000" y="2286000"/>
            <a:ext cx="600000" cy="600000"/>
          </a:xfrm>
          <a:prstGeom prst="ellipse">
            <a:avLst/>
          </a:prstGeom>
          <a:solidFill>
            <a:srgbClr val="D4603A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de-DE" sz="1400" b="1" dirty="0">
                <a:solidFill>
                  <a:srgbClr val="FFFFFF"/>
                </a:solidFill>
                <a:latin typeface="Montserrat"/>
              </a:rPr>
              <a:t>★</a:t>
            </a:r>
          </a:p>
        </p:txBody>
      </p:sp>
      <p:sp>
        <p:nvSpPr>
          <p:cNvPr id="92" name="Text2"/>
          <p:cNvSpPr/>
          <p:nvPr/>
        </p:nvSpPr>
        <p:spPr>
          <a:xfrm>
            <a:off x="8240000" y="3048000"/>
            <a:ext cx="3112000" cy="228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/>
            <a:r>
              <a:rPr lang="de-DE" sz="1800" b="1" dirty="0">
                <a:solidFill>
                  <a:srgbClr val="1B3D2F"/>
                </a:solidFill>
                <a:latin typeface="Montserrat"/>
              </a:rPr>
              <a:t>Community-Rewards</a:t>
            </a:r>
          </a:p>
          <a:p>
            <a:pPr algn="ctr">
              <a:spcBef>
                <a:spcPts val="600"/>
              </a:spcBef>
            </a:pPr>
            <a:r>
              <a:rPr lang="de-DE" sz="1400" dirty="0">
                <a:solidFill>
                  <a:srgbClr val="2C5F4A"/>
                </a:solidFill>
                <a:latin typeface="Source Sans Pro"/>
              </a:rPr>
              <a:t>Gamification-System belohnt transparentes Kaufverhalten und fördert nachhaltigen Konsum</a:t>
            </a:r>
          </a:p>
        </p:txBody>
      </p:sp>
      <p:sp>
        <p:nvSpPr>
          <p:cNvPr id="5" name="SlideTitle"/>
          <p:cNvSpPr/>
          <p:nvPr/>
        </p:nvSpPr>
        <p:spPr>
          <a:xfrm>
            <a:off x="457200" y="274638"/>
            <a:ext cx="10515600" cy="750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l"/>
            <a:r>
              <a:rPr lang="de-DE" sz="3600" b="1" dirty="0">
                <a:solidFill>
                  <a:srgbClr val="1B3D2F"/>
                </a:solidFill>
                <a:latin typeface="Montserrat"/>
              </a:rPr>
              <a:t>Innovationsgrad</a:t>
            </a:r>
          </a:p>
        </p:txBody>
      </p:sp>
    </p:spTree>
    <p:extLst>
      <p:ext uri="{BB962C8B-B14F-4D97-AF65-F5344CB8AC3E}">
        <p14:creationId xmlns:p14="http://schemas.microsoft.com/office/powerpoint/2010/main" val="2042051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gtTitle"/>
          <p:cNvSpPr/>
          <p:nvPr/>
        </p:nvSpPr>
        <p:spPr>
          <a:xfrm>
            <a:off x="457200" y="274638"/>
            <a:ext cx="10515600" cy="750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l"/>
            <a:r>
              <a:rPr lang="de-DE" sz="3400" b="1" dirty="0">
                <a:solidFill>
                  <a:srgbClr val="1B3D2F"/>
                </a:solidFill>
                <a:latin typeface="Montserrat"/>
              </a:rPr>
              <a:t>Zielgruppe &amp; Marktpotenzial</a:t>
            </a:r>
          </a:p>
        </p:txBody>
      </p:sp>
      <p:sp>
        <p:nvSpPr>
          <p:cNvPr id="20" name="LeftCol"/>
          <p:cNvSpPr/>
          <p:nvPr/>
        </p:nvSpPr>
        <p:spPr>
          <a:xfrm>
            <a:off x="457200" y="1300000"/>
            <a:ext cx="4800000" cy="4200000"/>
          </a:xfrm>
          <a:prstGeom prst="rect">
            <a:avLst/>
          </a:prstGeom>
          <a:noFill/>
          <a:ln>
            <a:noFill/>
          </a:ln>
        </p:spPr>
        <p:txBody>
          <a:bodyPr lIns="72000" rIns="72000" anchor="t"/>
          <a:lstStyle/>
          <a:p>
            <a:pPr>
              <a:buNone/>
            </a:pPr>
            <a:r>
              <a:rPr lang="de-DE" sz="2000" b="1" dirty="0">
                <a:solidFill>
                  <a:srgbClr val="2D8B5E"/>
                </a:solidFill>
                <a:latin typeface="Montserrat"/>
              </a:rPr>
              <a:t>Zielgruppe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de-DE" sz="1600" dirty="0">
                <a:solidFill>
                  <a:srgbClr val="2C5F4A"/>
                </a:solidFill>
                <a:latin typeface="Source Sans Pro"/>
              </a:rPr>
              <a:t>Gesundheits- &amp; umweltbewusste Verbraucher (25–45 J.)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de-DE" sz="1600" dirty="0">
                <a:solidFill>
                  <a:srgbClr val="2C5F4A"/>
                </a:solidFill>
                <a:latin typeface="Source Sans Pro"/>
              </a:rPr>
              <a:t>Urban Professionals mit Nachhaltigkeitsfokus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de-DE" sz="1600" dirty="0">
                <a:solidFill>
                  <a:srgbClr val="2C5F4A"/>
                </a:solidFill>
                <a:latin typeface="Source Sans Pro"/>
              </a:rPr>
              <a:t>Familien, die Wert auf Lebensmittelsicherheit legen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de-DE" sz="1600" dirty="0">
                <a:solidFill>
                  <a:srgbClr val="2C5F4A"/>
                </a:solidFill>
                <a:latin typeface="Source Sans Pro"/>
              </a:rPr>
              <a:t>„Conscious Consumers“ – informiert einkaufen</a:t>
            </a:r>
          </a:p>
        </p:txBody>
      </p:sp>
      <p:sp>
        <p:nvSpPr>
          <p:cNvPr id="25" name="Divider"/>
          <p:cNvSpPr/>
          <p:nvPr/>
        </p:nvSpPr>
        <p:spPr>
          <a:xfrm>
            <a:off x="5457200" y="1300000"/>
            <a:ext cx="18288" cy="3600000"/>
          </a:xfrm>
          <a:prstGeom prst="rect">
            <a:avLst/>
          </a:prstGeom>
          <a:solidFill>
            <a:srgbClr val="2D8B5E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0" name="RightCol"/>
          <p:cNvSpPr/>
          <p:nvPr/>
        </p:nvSpPr>
        <p:spPr>
          <a:xfrm>
            <a:off x="5857200" y="1300000"/>
            <a:ext cx="4800000" cy="4200000"/>
          </a:xfrm>
          <a:prstGeom prst="rect">
            <a:avLst/>
          </a:prstGeom>
          <a:noFill/>
          <a:ln>
            <a:noFill/>
          </a:ln>
        </p:spPr>
        <p:txBody>
          <a:bodyPr lIns="72000" rIns="72000" anchor="t"/>
          <a:lstStyle/>
          <a:p>
            <a:pPr>
              <a:buNone/>
            </a:pPr>
            <a:r>
              <a:rPr lang="de-DE" sz="2000" b="1" dirty="0">
                <a:solidFill>
                  <a:srgbClr val="E8A838"/>
                </a:solidFill>
                <a:latin typeface="Montserrat"/>
              </a:rPr>
              <a:t>Marktpotenzial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de-DE" sz="1600" dirty="0">
                <a:solidFill>
                  <a:srgbClr val="2C5F4A"/>
                </a:solidFill>
                <a:latin typeface="Source Sans Pro"/>
              </a:rPr>
              <a:t>Globaler Food-Tech Markt: $342 Mrd. (2025)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de-DE" sz="1600" dirty="0">
                <a:solidFill>
                  <a:srgbClr val="2C5F4A"/>
                </a:solidFill>
                <a:latin typeface="Source Sans Pro"/>
              </a:rPr>
              <a:t>Steigende Nachfrage nach Transparenz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de-DE" sz="1600" dirty="0">
                <a:solidFill>
                  <a:srgbClr val="2C5F4A"/>
                </a:solidFill>
                <a:latin typeface="Source Sans Pro"/>
              </a:rPr>
              <a:t>73% der Verbraucher wollen Herkunft wissen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de-DE" sz="1600" dirty="0">
                <a:solidFill>
                  <a:srgbClr val="2C5F4A"/>
                </a:solidFill>
                <a:latin typeface="Source Sans Pro"/>
              </a:rPr>
              <a:t>EU-Regulierung treibt Lieferketten-Transparenz</a:t>
            </a:r>
          </a:p>
        </p:txBody>
      </p:sp>
    </p:spTree>
    <p:extLst>
      <p:ext uri="{BB962C8B-B14F-4D97-AF65-F5344CB8AC3E}">
        <p14:creationId xmlns:p14="http://schemas.microsoft.com/office/powerpoint/2010/main" val="2192426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meline"/>
          <p:cNvSpPr/>
          <p:nvPr/>
        </p:nvSpPr>
        <p:spPr>
          <a:xfrm>
            <a:off x="914400" y="3000000"/>
            <a:ext cx="10363200" cy="36576"/>
          </a:xfrm>
          <a:prstGeom prst="rect">
            <a:avLst/>
          </a:prstGeom>
          <a:solidFill>
            <a:srgbClr val="2C5F4A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10" name="Node0"/>
          <p:cNvSpPr/>
          <p:nvPr/>
        </p:nvSpPr>
        <p:spPr>
          <a:xfrm>
            <a:off x="2209800" y="2903700"/>
            <a:ext cx="228600" cy="228600"/>
          </a:xfrm>
          <a:prstGeom prst="ellipse">
            <a:avLst/>
          </a:prstGeom>
          <a:solidFill>
            <a:srgbClr val="2D8B5E"/>
          </a:solidFill>
          <a:ln w="25400">
            <a:solidFill>
              <a:srgbClr val="F7F4EF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120" name="Label0"/>
          <p:cNvSpPr/>
          <p:nvPr/>
        </p:nvSpPr>
        <p:spPr>
          <a:xfrm>
            <a:off x="1181100" y="2200000"/>
            <a:ext cx="2286000" cy="700000"/>
          </a:xfrm>
          <a:prstGeom prst="rect">
            <a:avLst/>
          </a:prstGeom>
          <a:noFill/>
          <a:ln>
            <a:noFill/>
          </a:ln>
        </p:spPr>
        <p:txBody>
          <a:bodyPr lIns="36000" tIns="0" rIns="36000" bIns="0" anchor="b"/>
          <a:lstStyle/>
          <a:p>
            <a:pPr algn="ctr"/>
            <a:r>
              <a:rPr lang="de-DE" sz="1400" b="1" dirty="0">
                <a:solidFill>
                  <a:srgbClr val="2D8B5E"/>
                </a:solidFill>
                <a:latin typeface="Montserrat"/>
              </a:rPr>
              <a:t>Phase 1: MVP</a:t>
            </a:r>
          </a:p>
          <a:p>
            <a:pPr algn="ctr"/>
            <a:r>
              <a:rPr lang="de-DE" sz="1200" dirty="0">
                <a:solidFill>
                  <a:srgbClr val="8B6E4E"/>
                </a:solidFill>
                <a:latin typeface="Source Sans Pro"/>
              </a:rPr>
              <a:t>Monat 1–3</a:t>
            </a:r>
          </a:p>
        </p:txBody>
      </p:sp>
      <p:sp>
        <p:nvSpPr>
          <p:cNvPr id="130" name="Items0"/>
          <p:cNvSpPr/>
          <p:nvPr/>
        </p:nvSpPr>
        <p:spPr>
          <a:xfrm>
            <a:off x="1181100" y="3300000"/>
            <a:ext cx="2286000" cy="1600000"/>
          </a:xfrm>
          <a:prstGeom prst="roundRect">
            <a:avLst>
              <a:gd name="adj" fmla="val 8000"/>
            </a:avLst>
          </a:prstGeom>
          <a:solidFill>
            <a:srgbClr val="2D8B5E">
              <a:alpha val="8000"/>
            </a:srgbClr>
          </a:solidFill>
          <a:ln w="12700">
            <a:solidFill>
              <a:srgbClr val="2D8B5E">
                <a:alpha val="25000"/>
              </a:srgbClr>
            </a:solidFill>
          </a:ln>
        </p:spPr>
        <p:txBody>
          <a:bodyPr lIns="108000" tIns="72000" rIns="108000" bIns="72000" anchor="ctr"/>
          <a:lstStyle/>
          <a:p>
            <a:pPr algn="ctr"/>
            <a:r>
              <a:rPr lang="de-DE" sz="1400" dirty="0">
                <a:solidFill>
                  <a:srgbClr val="2C5F4A"/>
                </a:solidFill>
                <a:latin typeface="Source Sans Pro"/>
              </a:rPr>
              <a:t>Barcode-Scan
Produkt-DB
Basis-UI</a:t>
            </a:r>
          </a:p>
        </p:txBody>
      </p:sp>
      <p:sp>
        <p:nvSpPr>
          <p:cNvPr id="111" name="Node1"/>
          <p:cNvSpPr/>
          <p:nvPr/>
        </p:nvSpPr>
        <p:spPr>
          <a:xfrm>
            <a:off x="4724400" y="2903700"/>
            <a:ext cx="228600" cy="228600"/>
          </a:xfrm>
          <a:prstGeom prst="ellipse">
            <a:avLst/>
          </a:prstGeom>
          <a:solidFill>
            <a:srgbClr val="E8A838"/>
          </a:solidFill>
          <a:ln w="25400">
            <a:solidFill>
              <a:srgbClr val="F7F4EF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121" name="Label1"/>
          <p:cNvSpPr/>
          <p:nvPr/>
        </p:nvSpPr>
        <p:spPr>
          <a:xfrm>
            <a:off x="3695700" y="2200000"/>
            <a:ext cx="2286000" cy="700000"/>
          </a:xfrm>
          <a:prstGeom prst="rect">
            <a:avLst/>
          </a:prstGeom>
          <a:noFill/>
          <a:ln>
            <a:noFill/>
          </a:ln>
        </p:spPr>
        <p:txBody>
          <a:bodyPr lIns="36000" tIns="0" rIns="36000" bIns="0" anchor="b"/>
          <a:lstStyle/>
          <a:p>
            <a:pPr algn="ctr"/>
            <a:r>
              <a:rPr lang="de-DE" sz="1400" b="1" dirty="0">
                <a:solidFill>
                  <a:srgbClr val="E8A838"/>
                </a:solidFill>
                <a:latin typeface="Montserrat"/>
              </a:rPr>
              <a:t>Phase 2: KI-Integration</a:t>
            </a:r>
          </a:p>
          <a:p>
            <a:pPr algn="ctr"/>
            <a:r>
              <a:rPr lang="de-DE" sz="1200" dirty="0">
                <a:solidFill>
                  <a:srgbClr val="8B6E4E"/>
                </a:solidFill>
                <a:latin typeface="Source Sans Pro"/>
              </a:rPr>
              <a:t>Monat 4–6</a:t>
            </a:r>
          </a:p>
        </p:txBody>
      </p:sp>
      <p:sp>
        <p:nvSpPr>
          <p:cNvPr id="131" name="Items1"/>
          <p:cNvSpPr/>
          <p:nvPr/>
        </p:nvSpPr>
        <p:spPr>
          <a:xfrm>
            <a:off x="3695700" y="3300000"/>
            <a:ext cx="2286000" cy="1600000"/>
          </a:xfrm>
          <a:prstGeom prst="roundRect">
            <a:avLst>
              <a:gd name="adj" fmla="val 8000"/>
            </a:avLst>
          </a:prstGeom>
          <a:solidFill>
            <a:srgbClr val="E8A838">
              <a:alpha val="8000"/>
            </a:srgbClr>
          </a:solidFill>
          <a:ln w="12700">
            <a:solidFill>
              <a:srgbClr val="E8A838">
                <a:alpha val="25000"/>
              </a:srgbClr>
            </a:solidFill>
          </a:ln>
        </p:spPr>
        <p:txBody>
          <a:bodyPr lIns="108000" tIns="72000" rIns="108000" bIns="72000" anchor="ctr"/>
          <a:lstStyle/>
          <a:p>
            <a:pPr algn="ctr"/>
            <a:r>
              <a:rPr lang="de-DE" sz="1400" dirty="0">
                <a:solidFill>
                  <a:srgbClr val="2C5F4A"/>
                </a:solidFill>
                <a:latin typeface="Source Sans Pro"/>
              </a:rPr>
              <a:t>Bilderkennung
Lieferketten-API
IoT-Simulation</a:t>
            </a:r>
          </a:p>
        </p:txBody>
      </p:sp>
      <p:sp>
        <p:nvSpPr>
          <p:cNvPr id="112" name="Node2"/>
          <p:cNvSpPr/>
          <p:nvPr/>
        </p:nvSpPr>
        <p:spPr>
          <a:xfrm>
            <a:off x="7239000" y="2903700"/>
            <a:ext cx="228600" cy="228600"/>
          </a:xfrm>
          <a:prstGeom prst="ellipse">
            <a:avLst/>
          </a:prstGeom>
          <a:solidFill>
            <a:srgbClr val="3A7CA5"/>
          </a:solidFill>
          <a:ln w="25400">
            <a:solidFill>
              <a:srgbClr val="F7F4EF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122" name="Label2"/>
          <p:cNvSpPr/>
          <p:nvPr/>
        </p:nvSpPr>
        <p:spPr>
          <a:xfrm>
            <a:off x="6210300" y="2200000"/>
            <a:ext cx="2286000" cy="700000"/>
          </a:xfrm>
          <a:prstGeom prst="rect">
            <a:avLst/>
          </a:prstGeom>
          <a:noFill/>
          <a:ln>
            <a:noFill/>
          </a:ln>
        </p:spPr>
        <p:txBody>
          <a:bodyPr lIns="36000" tIns="0" rIns="36000" bIns="0" anchor="b"/>
          <a:lstStyle/>
          <a:p>
            <a:pPr algn="ctr"/>
            <a:r>
              <a:rPr lang="de-DE" sz="1400" b="1" dirty="0">
                <a:solidFill>
                  <a:srgbClr val="3A7CA5"/>
                </a:solidFill>
                <a:latin typeface="Montserrat"/>
              </a:rPr>
              <a:t>Phase 3: Community</a:t>
            </a:r>
          </a:p>
          <a:p>
            <a:pPr algn="ctr"/>
            <a:r>
              <a:rPr lang="de-DE" sz="1200" dirty="0">
                <a:solidFill>
                  <a:srgbClr val="8B6E4E"/>
                </a:solidFill>
                <a:latin typeface="Source Sans Pro"/>
              </a:rPr>
              <a:t>Monat 7–9</a:t>
            </a:r>
          </a:p>
        </p:txBody>
      </p:sp>
      <p:sp>
        <p:nvSpPr>
          <p:cNvPr id="132" name="Items2"/>
          <p:cNvSpPr/>
          <p:nvPr/>
        </p:nvSpPr>
        <p:spPr>
          <a:xfrm>
            <a:off x="6210300" y="3300000"/>
            <a:ext cx="2286000" cy="1600000"/>
          </a:xfrm>
          <a:prstGeom prst="roundRect">
            <a:avLst>
              <a:gd name="adj" fmla="val 8000"/>
            </a:avLst>
          </a:prstGeom>
          <a:solidFill>
            <a:srgbClr val="3A7CA5">
              <a:alpha val="8000"/>
            </a:srgbClr>
          </a:solidFill>
          <a:ln w="12700">
            <a:solidFill>
              <a:srgbClr val="3A7CA5">
                <a:alpha val="25000"/>
              </a:srgbClr>
            </a:solidFill>
          </a:ln>
        </p:spPr>
        <p:txBody>
          <a:bodyPr lIns="108000" tIns="72000" rIns="108000" bIns="72000" anchor="ctr"/>
          <a:lstStyle/>
          <a:p>
            <a:pPr algn="ctr"/>
            <a:r>
              <a:rPr lang="de-DE" sz="1400" dirty="0">
                <a:solidFill>
                  <a:srgbClr val="2C5F4A"/>
                </a:solidFill>
                <a:latin typeface="Source Sans Pro"/>
              </a:rPr>
              <a:t>Belohnungssystem
Social Features
Beta-Launch</a:t>
            </a:r>
          </a:p>
        </p:txBody>
      </p:sp>
      <p:sp>
        <p:nvSpPr>
          <p:cNvPr id="113" name="Node3"/>
          <p:cNvSpPr/>
          <p:nvPr/>
        </p:nvSpPr>
        <p:spPr>
          <a:xfrm>
            <a:off x="9753600" y="2903700"/>
            <a:ext cx="228600" cy="228600"/>
          </a:xfrm>
          <a:prstGeom prst="ellipse">
            <a:avLst/>
          </a:prstGeom>
          <a:solidFill>
            <a:srgbClr val="D4603A"/>
          </a:solidFill>
          <a:ln w="25400">
            <a:solidFill>
              <a:srgbClr val="F7F4EF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123" name="Label3"/>
          <p:cNvSpPr/>
          <p:nvPr/>
        </p:nvSpPr>
        <p:spPr>
          <a:xfrm>
            <a:off x="8724900" y="2200000"/>
            <a:ext cx="2286000" cy="700000"/>
          </a:xfrm>
          <a:prstGeom prst="rect">
            <a:avLst/>
          </a:prstGeom>
          <a:noFill/>
          <a:ln>
            <a:noFill/>
          </a:ln>
        </p:spPr>
        <p:txBody>
          <a:bodyPr lIns="36000" tIns="0" rIns="36000" bIns="0" anchor="b"/>
          <a:lstStyle/>
          <a:p>
            <a:pPr algn="ctr"/>
            <a:r>
              <a:rPr lang="de-DE" sz="1400" b="1" dirty="0">
                <a:solidFill>
                  <a:srgbClr val="D4603A"/>
                </a:solidFill>
                <a:latin typeface="Montserrat"/>
              </a:rPr>
              <a:t>Phase 4: Marktstart</a:t>
            </a:r>
          </a:p>
          <a:p>
            <a:pPr algn="ctr"/>
            <a:r>
              <a:rPr lang="de-DE" sz="1200" dirty="0">
                <a:solidFill>
                  <a:srgbClr val="8B6E4E"/>
                </a:solidFill>
                <a:latin typeface="Source Sans Pro"/>
              </a:rPr>
              <a:t>Monat 10–12</a:t>
            </a:r>
          </a:p>
        </p:txBody>
      </p:sp>
      <p:sp>
        <p:nvSpPr>
          <p:cNvPr id="133" name="Items3"/>
          <p:cNvSpPr/>
          <p:nvPr/>
        </p:nvSpPr>
        <p:spPr>
          <a:xfrm>
            <a:off x="8724900" y="3300000"/>
            <a:ext cx="2286000" cy="1600000"/>
          </a:xfrm>
          <a:prstGeom prst="roundRect">
            <a:avLst>
              <a:gd name="adj" fmla="val 8000"/>
            </a:avLst>
          </a:prstGeom>
          <a:solidFill>
            <a:srgbClr val="D4603A">
              <a:alpha val="8000"/>
            </a:srgbClr>
          </a:solidFill>
          <a:ln w="12700">
            <a:solidFill>
              <a:srgbClr val="D4603A">
                <a:alpha val="25000"/>
              </a:srgbClr>
            </a:solidFill>
          </a:ln>
        </p:spPr>
        <p:txBody>
          <a:bodyPr lIns="108000" tIns="72000" rIns="108000" bIns="72000" anchor="ctr"/>
          <a:lstStyle/>
          <a:p>
            <a:pPr algn="ctr"/>
            <a:r>
              <a:rPr lang="de-DE" sz="1400" dirty="0">
                <a:solidFill>
                  <a:srgbClr val="2C5F4A"/>
                </a:solidFill>
                <a:latin typeface="Source Sans Pro"/>
              </a:rPr>
              <a:t>App-Store Launch
Partnerschaften
Marketing</a:t>
            </a:r>
          </a:p>
        </p:txBody>
      </p:sp>
      <p:sp>
        <p:nvSpPr>
          <p:cNvPr id="140" name="TechNote"/>
          <p:cNvSpPr/>
          <p:nvPr/>
        </p:nvSpPr>
        <p:spPr>
          <a:xfrm>
            <a:off x="914400" y="5800000"/>
            <a:ext cx="10363200" cy="4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de-DE" sz="1400" i="1" dirty="0">
                <a:solidFill>
                  <a:srgbClr val="8B6E4E"/>
                </a:solidFill>
                <a:latin typeface="Source Sans Pro"/>
              </a:rPr>
              <a:t>Tech-Stack: React Native / Flutter | Python (TensorFlow) | REST APIs | Cloud (AWS/GCP)</a:t>
            </a:r>
          </a:p>
        </p:txBody>
      </p:sp>
      <p:sp>
        <p:nvSpPr>
          <p:cNvPr id="5" name="SlideTitle"/>
          <p:cNvSpPr/>
          <p:nvPr/>
        </p:nvSpPr>
        <p:spPr>
          <a:xfrm>
            <a:off x="457200" y="274638"/>
            <a:ext cx="10515600" cy="750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l"/>
            <a:r>
              <a:rPr lang="de-DE" sz="3600" b="1" dirty="0">
                <a:solidFill>
                  <a:srgbClr val="1B3D2F"/>
                </a:solidFill>
                <a:latin typeface="Montserrat"/>
              </a:rPr>
              <a:t>Umsetzbarkeit &amp; Roadmap</a:t>
            </a:r>
          </a:p>
        </p:txBody>
      </p:sp>
    </p:spTree>
    <p:extLst>
      <p:ext uri="{BB962C8B-B14F-4D97-AF65-F5344CB8AC3E}">
        <p14:creationId xmlns:p14="http://schemas.microsoft.com/office/powerpoint/2010/main" val="1150220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tat0"/>
          <p:cNvSpPr/>
          <p:nvPr/>
        </p:nvSpPr>
        <p:spPr>
          <a:xfrm>
            <a:off x="996000" y="2159000"/>
            <a:ext cx="3200000" cy="2159000"/>
          </a:xfrm>
          <a:prstGeom prst="roundRect">
            <a:avLst>
              <a:gd name="adj" fmla="val 8000"/>
            </a:avLst>
          </a:prstGeom>
          <a:solidFill>
            <a:srgbClr val="D4603A">
              <a:alpha val="10000"/>
            </a:srgbClr>
          </a:solidFill>
          <a:ln w="19050">
            <a:solidFill>
              <a:srgbClr val="D4603A">
                <a:alpha val="30000"/>
              </a:srgbClr>
            </a:solidFill>
          </a:ln>
        </p:spPr>
        <p:txBody>
          <a:bodyPr lIns="108000" tIns="72000" rIns="108000" bIns="72000" anchor="ctr"/>
          <a:lstStyle/>
          <a:p>
            <a:pPr algn="ctr"/>
            <a:r>
              <a:rPr lang="de-DE" sz="3600" b="1" dirty="0">
                <a:solidFill>
                  <a:srgbClr val="D4603A"/>
                </a:solidFill>
                <a:latin typeface="Montserrat"/>
              </a:rPr>
              <a:t>1/3</a:t>
            </a:r>
          </a:p>
          <a:p>
            <a:pPr algn="ctr">
              <a:spcBef>
                <a:spcPts val="400"/>
              </a:spcBef>
            </a:pPr>
            <a:r>
              <a:rPr lang="de-DE" sz="1400" dirty="0">
                <a:solidFill>
                  <a:srgbClr val="2C5F4A"/>
                </a:solidFill>
                <a:latin typeface="Source Sans Pro"/>
              </a:rPr>
              <a:t>aller Lebensmittel werden
weltweit verschwendet</a:t>
            </a:r>
          </a:p>
        </p:txBody>
      </p:sp>
      <p:sp>
        <p:nvSpPr>
          <p:cNvPr id="151" name="Stat1"/>
          <p:cNvSpPr/>
          <p:nvPr/>
        </p:nvSpPr>
        <p:spPr>
          <a:xfrm>
            <a:off x="4496000" y="2159000"/>
            <a:ext cx="3200000" cy="2159000"/>
          </a:xfrm>
          <a:prstGeom prst="roundRect">
            <a:avLst>
              <a:gd name="adj" fmla="val 8000"/>
            </a:avLst>
          </a:prstGeom>
          <a:solidFill>
            <a:srgbClr val="E8A838">
              <a:alpha val="10000"/>
            </a:srgbClr>
          </a:solidFill>
          <a:ln w="19050">
            <a:solidFill>
              <a:srgbClr val="E8A838">
                <a:alpha val="30000"/>
              </a:srgbClr>
            </a:solidFill>
          </a:ln>
        </p:spPr>
        <p:txBody>
          <a:bodyPr lIns="108000" tIns="72000" rIns="108000" bIns="72000" anchor="ctr"/>
          <a:lstStyle/>
          <a:p>
            <a:pPr algn="ctr"/>
            <a:r>
              <a:rPr lang="de-DE" sz="3600" b="1" dirty="0">
                <a:solidFill>
                  <a:srgbClr val="E8A838"/>
                </a:solidFill>
                <a:latin typeface="Montserrat"/>
              </a:rPr>
              <a:t>88 Mio. t</a:t>
            </a:r>
          </a:p>
          <a:p>
            <a:pPr algn="ctr">
              <a:spcBef>
                <a:spcPts val="400"/>
              </a:spcBef>
            </a:pPr>
            <a:r>
              <a:rPr lang="de-DE" sz="1400" dirty="0">
                <a:solidFill>
                  <a:srgbClr val="2C5F4A"/>
                </a:solidFill>
                <a:latin typeface="Source Sans Pro"/>
              </a:rPr>
              <a:t>Lebensmittelabfall
pro Jahr in der EU</a:t>
            </a:r>
          </a:p>
        </p:txBody>
      </p:sp>
      <p:sp>
        <p:nvSpPr>
          <p:cNvPr id="152" name="Stat2"/>
          <p:cNvSpPr/>
          <p:nvPr/>
        </p:nvSpPr>
        <p:spPr>
          <a:xfrm>
            <a:off x="7996000" y="2159000"/>
            <a:ext cx="3200000" cy="2159000"/>
          </a:xfrm>
          <a:prstGeom prst="roundRect">
            <a:avLst>
              <a:gd name="adj" fmla="val 8000"/>
            </a:avLst>
          </a:prstGeom>
          <a:solidFill>
            <a:srgbClr val="2D8B5E">
              <a:alpha val="10000"/>
            </a:srgbClr>
          </a:solidFill>
          <a:ln w="19050">
            <a:solidFill>
              <a:srgbClr val="2D8B5E">
                <a:alpha val="30000"/>
              </a:srgbClr>
            </a:solidFill>
          </a:ln>
        </p:spPr>
        <p:txBody>
          <a:bodyPr lIns="108000" tIns="72000" rIns="108000" bIns="72000" anchor="ctr"/>
          <a:lstStyle/>
          <a:p>
            <a:pPr algn="ctr"/>
            <a:r>
              <a:rPr lang="de-DE" sz="3600" b="1" dirty="0">
                <a:solidFill>
                  <a:srgbClr val="2D8B5E"/>
                </a:solidFill>
                <a:latin typeface="Montserrat"/>
              </a:rPr>
              <a:t>73%</a:t>
            </a:r>
          </a:p>
          <a:p>
            <a:pPr algn="ctr">
              <a:spcBef>
                <a:spcPts val="400"/>
              </a:spcBef>
            </a:pPr>
            <a:r>
              <a:rPr lang="de-DE" sz="1400" dirty="0">
                <a:solidFill>
                  <a:srgbClr val="2C5F4A"/>
                </a:solidFill>
                <a:latin typeface="Source Sans Pro"/>
              </a:rPr>
              <a:t>der Verbraucher wollen
mehr Transparenz</a:t>
            </a:r>
          </a:p>
        </p:txBody>
      </p:sp>
      <p:sp>
        <p:nvSpPr>
          <p:cNvPr id="160" name="BottomMsg"/>
          <p:cNvSpPr/>
          <p:nvPr/>
        </p:nvSpPr>
        <p:spPr>
          <a:xfrm>
            <a:off x="914400" y="4699000"/>
            <a:ext cx="10363200" cy="1200000"/>
          </a:xfrm>
          <a:prstGeom prst="rect">
            <a:avLst/>
          </a:prstGeom>
          <a:noFill/>
          <a:ln>
            <a:noFill/>
          </a:ln>
        </p:spPr>
        <p:txBody>
          <a:bodyPr lIns="72000" rIns="72000" anchor="t"/>
          <a:lstStyle/>
          <a:p>
            <a:pPr algn="ctr">
              <a:spcBef>
                <a:spcPts val="600"/>
              </a:spcBef>
            </a:pPr>
            <a:r>
              <a:rPr lang="de-DE" sz="1800" b="1" dirty="0">
                <a:solidFill>
                  <a:srgbClr val="1B3D2F"/>
                </a:solidFill>
                <a:latin typeface="Montserrat"/>
              </a:rPr>
              <a:t>RootRoute macht jeden Einkauf zu einer informierten Entscheidung</a:t>
            </a:r>
          </a:p>
          <a:p>
            <a:pPr algn="ctr">
              <a:spcBef>
                <a:spcPts val="300"/>
              </a:spcBef>
            </a:pPr>
            <a:r>
              <a:rPr lang="de-DE" sz="1500" dirty="0">
                <a:solidFill>
                  <a:srgbClr val="2C5F4A"/>
                </a:solidFill>
                <a:latin typeface="Source Sans Pro"/>
              </a:rPr>
              <a:t>Für Vertrauen, Sicherheit und eine nachhaltigere Zukunft unserer Ernährung</a:t>
            </a:r>
          </a:p>
        </p:txBody>
      </p:sp>
      <p:sp>
        <p:nvSpPr>
          <p:cNvPr id="5" name="SlideTitle"/>
          <p:cNvSpPr/>
          <p:nvPr/>
        </p:nvSpPr>
        <p:spPr>
          <a:xfrm>
            <a:off x="457200" y="274638"/>
            <a:ext cx="10515600" cy="750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l"/>
            <a:r>
              <a:rPr lang="de-DE" sz="3600" b="1" dirty="0">
                <a:solidFill>
                  <a:srgbClr val="1B3D2F"/>
                </a:solidFill>
                <a:latin typeface="Montserrat"/>
              </a:rPr>
              <a:t>Nachhaltigkeit &amp; Impact</a:t>
            </a:r>
          </a:p>
        </p:txBody>
      </p:sp>
    </p:spTree>
    <p:extLst>
      <p:ext uri="{BB962C8B-B14F-4D97-AF65-F5344CB8AC3E}">
        <p14:creationId xmlns:p14="http://schemas.microsoft.com/office/powerpoint/2010/main" val="3243121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TATitle"/>
          <p:cNvSpPr/>
          <p:nvPr/>
        </p:nvSpPr>
        <p:spPr>
          <a:xfrm>
            <a:off x="914400" y="2286000"/>
            <a:ext cx="10363200" cy="12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de-DE" sz="4000" b="1" dirty="0">
                <a:solidFill>
                  <a:srgbClr val="1B3D2F"/>
                </a:solidFill>
                <a:latin typeface="Montserrat"/>
              </a:rPr>
              <a:t>Bereit für transparenten Konsum?</a:t>
            </a:r>
          </a:p>
        </p:txBody>
      </p:sp>
      <p:sp>
        <p:nvSpPr>
          <p:cNvPr id="11" name="CTASub"/>
          <p:cNvSpPr/>
          <p:nvPr/>
        </p:nvSpPr>
        <p:spPr>
          <a:xfrm>
            <a:off x="914400" y="3619500"/>
            <a:ext cx="10363200" cy="6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ctr"/>
            <a:r>
              <a:rPr lang="de-DE" sz="2200" dirty="0">
                <a:solidFill>
                  <a:srgbClr val="2D8B5E"/>
                </a:solidFill>
                <a:latin typeface="Source Sans Pro"/>
              </a:rPr>
              <a:t>RootRoute – Vom Feld bis auf deinen Teller.</a:t>
            </a:r>
          </a:p>
        </p:txBody>
      </p:sp>
      <p:sp>
        <p:nvSpPr>
          <p:cNvPr id="12" name="AccentLine"/>
          <p:cNvSpPr/>
          <p:nvPr/>
        </p:nvSpPr>
        <p:spPr>
          <a:xfrm>
            <a:off x="4572000" y="4445000"/>
            <a:ext cx="3048000" cy="36576"/>
          </a:xfrm>
          <a:prstGeom prst="rect">
            <a:avLst/>
          </a:prstGeom>
          <a:gradFill>
            <a:gsLst>
              <a:gs pos="0">
                <a:srgbClr val="2D8B5E"/>
              </a:gs>
              <a:gs pos="50000">
                <a:srgbClr val="E8A838"/>
              </a:gs>
              <a:gs pos="100000">
                <a:srgbClr val="D4603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" name="Thanks"/>
          <p:cNvSpPr/>
          <p:nvPr/>
        </p:nvSpPr>
        <p:spPr>
          <a:xfrm>
            <a:off x="914400" y="4699000"/>
            <a:ext cx="10363200" cy="6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ctr"/>
            <a:r>
              <a:rPr lang="de-DE" sz="1800" i="1" dirty="0">
                <a:solidFill>
                  <a:srgbClr val="8B6E4E"/>
                </a:solidFill>
                <a:latin typeface="Source Sans Pro"/>
              </a:rPr>
              <a:t>Vielen Dank für Ihre Aufmerksamkeit!</a:t>
            </a:r>
          </a:p>
        </p:txBody>
      </p:sp>
    </p:spTree>
    <p:extLst>
      <p:ext uri="{BB962C8B-B14F-4D97-AF65-F5344CB8AC3E}">
        <p14:creationId xmlns:p14="http://schemas.microsoft.com/office/powerpoint/2010/main" val="3595986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[1774647789865]">
  <a:themeElements>
    <a:clrScheme name="RootRoute">
      <a:dk1>
        <a:srgbClr val="1B3D2F"/>
      </a:dk1>
      <a:lt1>
        <a:srgbClr val="F7F4EF"/>
      </a:lt1>
      <a:dk2>
        <a:srgbClr val="2C5F4A"/>
      </a:dk2>
      <a:lt2>
        <a:srgbClr val="EDE8DF"/>
      </a:lt2>
      <a:accent1>
        <a:srgbClr val="2D8B5E"/>
      </a:accent1>
      <a:accent2>
        <a:srgbClr val="E8A838"/>
      </a:accent2>
      <a:accent3>
        <a:srgbClr val="D4603A"/>
      </a:accent3>
      <a:accent4>
        <a:srgbClr val="5BA88C"/>
      </a:accent4>
      <a:accent5>
        <a:srgbClr val="3A7CA5"/>
      </a:accent5>
      <a:accent6>
        <a:srgbClr val="8B6E4E"/>
      </a:accent6>
      <a:hlink>
        <a:srgbClr val="467886"/>
      </a:hlink>
      <a:folHlink>
        <a:srgbClr val="96607D"/>
      </a:folHlink>
    </a:clrScheme>
    <a:fontScheme name="RootRoute Fonts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Pro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A5487EA-316F-4ECD-A4C9-8A98626AE48A}">
  <we:reference id="WA200010001" version="1.0.0.1" store="Omex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386</Words>
  <Application>Microsoft Office PowerPoint</Application>
  <PresentationFormat>Breitbild</PresentationFormat>
  <Paragraphs>78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Arial</vt:lpstr>
      <vt:lpstr>Montserrat</vt:lpstr>
      <vt:lpstr>Source Sans Pro</vt:lpstr>
      <vt:lpstr>Office [1774647789865]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Migg Matio Markus Betschart</dc:creator>
  <cp:lastModifiedBy>Migg Matio Markus Betschart</cp:lastModifiedBy>
  <cp:revision>3</cp:revision>
  <dcterms:created xsi:type="dcterms:W3CDTF">2026-03-27T21:12:21Z</dcterms:created>
  <dcterms:modified xsi:type="dcterms:W3CDTF">2026-03-28T00:13:46Z</dcterms:modified>
</cp:coreProperties>
</file>